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JetBrains Mono"/>
      <ns0:bold ns1:id="rIdFont26"/>
      <ns0:regular ns1:id="rIdFont27"/>
    </ns0:embeddedFont>
    <ns0:embeddedFont>
      <ns0:font typeface="Inter"/>
      <ns0:bold ns1:id="rIdFont28"/>
      <ns0:regular ns1:id="rIdFont29"/>
    </ns0:embeddedFont>
    <ns0:embeddedFont>
      <ns0:font typeface="Plus Jakarta Sans"/>
      <ns0:bold ns1:id="rIdFont3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Font26" Type="http://schemas.openxmlformats.org/officeDocument/2006/relationships/font" Target="fonts/d7075a9c-3a00-403c-8bae-ff7ccd9d030d.fntdata" /><ns0:Relationship Id="rIdFont27" Type="http://schemas.openxmlformats.org/officeDocument/2006/relationships/font" Target="fonts/a8858d32-1d99-4b38-82b8-3381b332e367.fntdata" /><ns0:Relationship Id="rIdFont28" Type="http://schemas.openxmlformats.org/officeDocument/2006/relationships/font" Target="fonts/84311da5-6096-41f0-aad1-a279912ae780.fntdata" /><ns0:Relationship Id="rIdFont29" Type="http://schemas.openxmlformats.org/officeDocument/2006/relationships/font" Target="fonts/23a9a321-a709-4949-aa4d-a28b74b643f0.fntdata" /><ns0:Relationship Id="rIdFont30" Type="http://schemas.openxmlformats.org/officeDocument/2006/relationships/font" Target="fonts/6fa2cd73-0b75-46e2-9fe7-6fb78b09af6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86425"/>
            <a:ext cx="108204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6450" y="666750"/>
            <a:ext cx="1809750" cy="34290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6864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92189" y="647700"/>
            <a:ext cx="380047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92189" y="647700"/>
            <a:ext cx="1905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2153989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349847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ENGINEERING LECTURE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4647"/>
            <a:ext cx="1146143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CSS Fundamentals &amp;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Advanced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46177"/>
            <a:ext cx="7905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Modern Web Architecture, Cascade Mechanics, Layout Systems &amp; Technical Selectors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7425" y="75247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COURSE CODE: ACSE04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24550"/>
            <a:ext cx="3798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Mr. D. Obula Raju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62675"/>
            <a:ext cx="3798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Faculty ID: IARE11225 • Assistant Professor,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3950" y="6162675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Inter"/>
              </a:rPr>
              <a:t>Lecture No: ________ • Date: 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589" y="647700"/>
            <a:ext cx="4560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INSTITUTE OF AERONAUTICAL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4589" y="866775"/>
            <a:ext cx="4560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62187"/>
            <a:ext cx="5334000" cy="2657475"/>
          </a:xfrm>
          <a:prstGeom prst="roundRect">
            <a:avLst>
              <a:gd name="adj" fmla="val 57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147887"/>
            <a:ext cx="5334000" cy="2886075"/>
          </a:xfrm>
          <a:prstGeom prst="roundRect">
            <a:avLst>
              <a:gd name="adj" fmla="val 5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2025" y="3643312"/>
            <a:ext cx="4629150" cy="647700"/>
          </a:xfrm>
          <a:prstGeom prst="roundRect">
            <a:avLst>
              <a:gd name="adj" fmla="val 117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00825" y="3757612"/>
            <a:ext cx="4629150" cy="647700"/>
          </a:xfrm>
          <a:prstGeom prst="roundRect">
            <a:avLst>
              <a:gd name="adj" fmla="val 1176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6146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5003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2" y="273843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624137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Types of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3024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ACSE04: Web Application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262312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Installed locally on host system storage and run natively.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405312"/>
            <a:ext cx="5786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• High hardware access • Offline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31480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Delivered over networks and executed via standard web browsers.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519612"/>
            <a:ext cx="55911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• Device independent • Centralized server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475" y="3776662"/>
            <a:ext cx="535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Key Examples: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475" y="3995737"/>
            <a:ext cx="535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VS Code • VLC Player • MS Word •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3890962"/>
            <a:ext cx="535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Key Examples: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4110037"/>
            <a:ext cx="535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Gmail • YouTube • GitHub • E-commerce Portals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2575" y="2628900"/>
            <a:ext cx="29003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Desktop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2575" y="2895600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Direct OS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375" y="2514600"/>
            <a:ext cx="28503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Web 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1375" y="2781300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Network-Delivered Browser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52937" y="2100262"/>
            <a:ext cx="3286125" cy="542925"/>
          </a:xfrm>
          <a:prstGeom prst="roundRect">
            <a:avLst>
              <a:gd name="adj" fmla="val 21052"/>
            </a:avLst>
          </a:prstGeom>
          <a:solidFill>
            <a:srgbClr val="0C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2814637"/>
            <a:ext cx="4210050" cy="1438275"/>
          </a:xfrm>
          <a:prstGeom prst="roundRect">
            <a:avLst>
              <a:gd name="adj" fmla="val 9271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29450" y="2814637"/>
            <a:ext cx="4210050" cy="1438275"/>
          </a:xfrm>
          <a:prstGeom prst="roundRect">
            <a:avLst>
              <a:gd name="adj" fmla="val 9271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500" y="4424362"/>
            <a:ext cx="5029200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4424362"/>
            <a:ext cx="5029200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1150" y="3376612"/>
            <a:ext cx="1409700" cy="314325"/>
          </a:xfrm>
          <a:prstGeom prst="roundRect">
            <a:avLst>
              <a:gd name="adj" fmla="val 2424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7" y="3062287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3062287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4638675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638675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SOFTWARE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Full Stack Engineering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38875"/>
            <a:ext cx="2309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Technical Stack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8421" y="2252662"/>
            <a:ext cx="3155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FULL STACK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20" y="3405187"/>
            <a:ext cx="48756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Client Tier (Frontend)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806" y="3681412"/>
            <a:ext cx="46434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DOM Structure, Layout Design, User Interactivity • HTML, CSS, JavaScript, 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670" y="3405187"/>
            <a:ext cx="48756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Server Tier (Backend)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756" y="3681412"/>
            <a:ext cx="46434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Business Logic, Auth, Routing, Server Controllers • Python, Java, Node.js, C#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1625" y="3452812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HTTP /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3050" y="4586287"/>
            <a:ext cx="3714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Database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3050" y="4767262"/>
            <a:ext cx="371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PostgreSQL, MySQL, MongoDB persistent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6575" y="458628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Deployment &amp;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6575" y="4767262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Cloud infrastructure, CI/CD pipelines, Web Servers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66937"/>
            <a:ext cx="3498800" cy="2847975"/>
          </a:xfrm>
          <a:prstGeom prst="roundRect">
            <a:avLst>
              <a:gd name="adj" fmla="val 46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2157412"/>
            <a:ext cx="3517850" cy="28670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3450" y="2085975"/>
            <a:ext cx="3498800" cy="3009900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148137"/>
            <a:ext cx="302255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4650" y="4148137"/>
            <a:ext cx="302255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575" y="4067175"/>
            <a:ext cx="3022550" cy="714375"/>
          </a:xfrm>
          <a:prstGeom prst="roundRect">
            <a:avLst>
              <a:gd name="adj" fmla="val 10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81262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2481262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575" y="2400300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576512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475" y="2576512"/>
            <a:ext cx="1714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1113" y="2495550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CLIENT-SIDE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Frontend Core Trio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38875"/>
            <a:ext cx="2583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Frontend Separation of Concerns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052762"/>
            <a:ext cx="396709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HTML5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357562"/>
            <a:ext cx="3778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633787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Provides semantic blueprint and document markup for elements.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262437"/>
            <a:ext cx="2889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JetBrains Mono"/>
              </a:rPr>
              <a:t>Welcome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CSS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4650" y="3052762"/>
            <a:ext cx="396709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4650" y="3357562"/>
            <a:ext cx="3778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4650" y="3633787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Controls aesthetic layout, colors, typography, and viewport adaptation.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8950" y="4262437"/>
            <a:ext cx="2889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h1 { color: #0284c7; }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p { font-size: 16px;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575" y="2971800"/>
            <a:ext cx="387042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JavaScript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575" y="3276600"/>
            <a:ext cx="3778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BEHAVIOR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575" y="3552825"/>
            <a:ext cx="3117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Adds dynamic client-side logic, event handling, and DOM manipulation.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5875" y="4181475"/>
            <a:ext cx="28892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DE047"/>
                </a:solidFill>
                <a:latin typeface="JetBrains Mono"/>
              </a:rPr>
              <a:t>function greet() {</a:t>
            </a:r>
            <a:r>
              <a:t>
</a:t>
            </a:r>
            <a:r>
              <a:rPr b="0" sz="975" i="0" u="none">
                <a:solidFill>
                  <a:srgbClr val="FDE047"/>
                </a:solidFill>
                <a:latin typeface="JetBrains Mono"/>
              </a:rPr>
              <a:t>   alert('IARE');</a:t>
            </a:r>
            <a:r>
              <a:t>
</a:t>
            </a:r>
            <a:r>
              <a:rPr b="0" sz="975" i="0" u="none">
                <a:solidFill>
                  <a:srgbClr val="FDE047"/>
                </a:solidFill>
                <a:latin typeface="JetBrains Mono"/>
              </a:rPr>
              <a:t>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66925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066925"/>
            <a:ext cx="5334000" cy="304800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333750"/>
            <a:ext cx="470535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4124325"/>
            <a:ext cx="470535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62725" y="3333750"/>
            <a:ext cx="470535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62725" y="4124325"/>
            <a:ext cx="470535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40030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40030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TECHNICAL TAXONOMY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CSS Frameworks vs. JavaScript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Architectural Distinction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3300" y="6238875"/>
            <a:ext cx="7048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781300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Pre-designed styling classes, UI component utilities, and responsive grid layouts.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781300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Component lifecycle, reactive state management, and virtual DOM handling.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2381250"/>
            <a:ext cx="22502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 Frameworks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2381250"/>
            <a:ext cx="43005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JavaScript / TypeScript Libraries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34766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Bootstrap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3705225"/>
            <a:ext cx="542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Class-based component system with flexbox grid.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4267200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Tailwind 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4495800"/>
            <a:ext cx="542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Utility-first CSS architecture for granular styling.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34766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3705225"/>
            <a:ext cx="542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Declarative UI library for component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4267200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Angular &amp; Next.js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3700" y="4495800"/>
            <a:ext cx="542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Full enterprise frontend frameworks with SSR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43137"/>
            <a:ext cx="5789414" cy="2695575"/>
          </a:xfrm>
          <a:prstGeom prst="roundRect">
            <a:avLst>
              <a:gd name="adj" fmla="val 49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5714" y="2119312"/>
            <a:ext cx="4916685" cy="2943225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1939" y="2395537"/>
            <a:ext cx="2552700" cy="314325"/>
          </a:xfrm>
          <a:prstGeom prst="roundRect">
            <a:avLst>
              <a:gd name="adj" fmla="val 2424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1939" y="3300412"/>
            <a:ext cx="4364235" cy="31432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1939" y="3690937"/>
            <a:ext cx="4364235" cy="31432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1939" y="4081462"/>
            <a:ext cx="4364235" cy="31432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1939" y="4471987"/>
            <a:ext cx="4364235" cy="314325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85825" y="2890837"/>
          <a:ext cx="5236963" cy="1771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95326"/>
                <a:gridCol w="3341637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Language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Inter"/>
                        </a:rPr>
                        <a:t>Framework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Django, FastAPI, Flask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Java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Spring Boot, J2EE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C#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ASP.NET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JavaScript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Node.js, Express.js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SERVER-SIDE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Backend Technologies &amp; REST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2131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Client-Server Data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519362"/>
            <a:ext cx="68735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Server Languages &amp; 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1939" y="2824162"/>
            <a:ext cx="44594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Communication protocol over HTTP methods — not a programming language.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5289" y="2471737"/>
            <a:ext cx="2857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REST API (Architectural Style)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6239" y="3376612"/>
            <a:ext cx="514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01275" y="3376612"/>
            <a:ext cx="1276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Retrieve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6239" y="3767137"/>
            <a:ext cx="590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8875" y="376713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Create Resource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239" y="4157662"/>
            <a:ext cx="1123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JetBrains Mono"/>
              </a:rPr>
              <a:t>PUT / 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8875" y="4157662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Update 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6239" y="4548187"/>
            <a:ext cx="742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JetBrains Mono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3675" y="4548187"/>
            <a:ext cx="1123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Remove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71725"/>
            <a:ext cx="5334000" cy="2438400"/>
          </a:xfrm>
          <a:prstGeom prst="roundRect">
            <a:avLst>
              <a:gd name="adj" fmla="val 54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52687"/>
            <a:ext cx="5334000" cy="2276475"/>
          </a:xfrm>
          <a:prstGeom prst="roundRect">
            <a:avLst>
              <a:gd name="adj" fmla="val 5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629025"/>
            <a:ext cx="4705350" cy="866775"/>
          </a:xfrm>
          <a:prstGeom prst="roundRect">
            <a:avLst>
              <a:gd name="adj" fmla="val 109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62725" y="3709987"/>
            <a:ext cx="470535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810000"/>
            <a:ext cx="1238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INFRASTRUCTURE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Protocols &amp; Deployment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38875"/>
            <a:ext cx="2845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Production Deployment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3300" y="6238875"/>
            <a:ext cx="7048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686050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HTTP vs. HTTPS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767012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Deployment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076575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F4444"/>
                </a:solidFill>
                <a:latin typeface="Inter"/>
              </a:rPr>
              <a:t>HTTP (Port 80)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295650"/>
            <a:ext cx="588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Plaintext communication. Vulnerable to interception and tampering.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3790950"/>
            <a:ext cx="5476875" cy="18097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Inter"/>
              </a:rPr>
              <a:t>HTTPS (Port 443)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4010025"/>
            <a:ext cx="4476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47857"/>
                </a:solidFill>
                <a:latin typeface="Inter"/>
              </a:rPr>
              <a:t>Secured via TLS/SSL encryption certificates. Standard for all modern production web apps.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157537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1. Local Network / On-Premise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376612"/>
            <a:ext cx="5629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Private LAN servers accessible only within organizational network.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871912"/>
            <a:ext cx="54673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2. Cloud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090987"/>
            <a:ext cx="5467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Global scalability via AWS, Microsoft Azure, Google Cloud (GCP).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62200"/>
            <a:ext cx="3498800" cy="2457450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2443162"/>
            <a:ext cx="3498800" cy="2295525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2433637"/>
            <a:ext cx="351785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2638425"/>
            <a:ext cx="771525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3743325"/>
            <a:ext cx="2946350" cy="53340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3225" y="2719387"/>
            <a:ext cx="800100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3225" y="3662362"/>
            <a:ext cx="2946350" cy="53340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50150" y="2719387"/>
            <a:ext cx="145732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0150" y="3662362"/>
            <a:ext cx="2946350" cy="53340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STYLING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Three Ways to Apply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38875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CSS Architecture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2676525"/>
            <a:ext cx="676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Inter"/>
              </a:rPr>
              <a:t>METHOD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971800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Inline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286125"/>
            <a:ext cx="3041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Applied inside the HTML tag via the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style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attribute.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857625"/>
            <a:ext cx="281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t>
</a:t>
            </a:r>
            <a:r>
              <a:rPr b="0" sz="900" i="0" u="none">
                <a:solidFill>
                  <a:srgbClr val="CBD5E1"/>
                </a:solidFill>
                <a:latin typeface="JetBrains Mono"/>
              </a:rPr>
              <a:t>   Welcome</a:t>
            </a:r>
            <a:r>
              <a:t>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391025"/>
            <a:ext cx="368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Inter"/>
              </a:rPr>
              <a:t>Drawback: Poor maintainability.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8475" y="2757487"/>
            <a:ext cx="704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METHOD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3225" y="3052762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Internal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3225" y="3367087"/>
            <a:ext cx="3682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Defined in the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&lt;/div&gt;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block within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525" y="3776662"/>
            <a:ext cx="281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JetBrains Mono"/>
              </a:rPr>
              <a:t>&lt;/div&gt;</a:t>
            </a:r>
            <a:r>
              <a:t>
</a:t>
            </a:r>
            <a:r>
              <a:rPr b="0" sz="900" i="0" u="none">
                <a:solidFill>
                  <a:srgbClr val="CBD5E1"/>
                </a:solidFill>
                <a:latin typeface="JetBrains Mono"/>
              </a:rPr>
              <a:t>   h2 { color: #003366; }</a:t>
            </a:r>
            <a:r>
              <a:t>
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3225" y="4310062"/>
            <a:ext cx="368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Scope: Single HTML page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5400" y="2757487"/>
            <a:ext cx="1362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INDUSTRY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0150" y="3052762"/>
            <a:ext cx="384184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External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0150" y="3367087"/>
            <a:ext cx="3682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Linked via external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.css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stylesheet file.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4450" y="3776662"/>
            <a:ext cx="281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t>
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   href="style.css"&gt;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0150" y="4310062"/>
            <a:ext cx="368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Reusable • Cached • Scalable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8425"/>
            <a:ext cx="260032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719387"/>
            <a:ext cx="26003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719387"/>
            <a:ext cx="26003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719387"/>
            <a:ext cx="26003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429000"/>
            <a:ext cx="2124075" cy="876300"/>
          </a:xfrm>
          <a:prstGeom prst="roundRect">
            <a:avLst>
              <a:gd name="adj" fmla="val 65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8550" y="3509962"/>
            <a:ext cx="2124075" cy="714375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29375" y="3509962"/>
            <a:ext cx="2124075" cy="714375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20200" y="3509962"/>
            <a:ext cx="2124075" cy="714375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DOM TARGETING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CSS Selectors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2190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Selector Patterns • ACSE04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3775" y="6238875"/>
            <a:ext cx="714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87655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Universal (*)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152775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Targets every node.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543300"/>
            <a:ext cx="19907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*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margin: 0;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padding: 0;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29575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Element 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32337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Matches HTML tags.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2850" y="3624262"/>
            <a:ext cx="19907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h1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color: #0284c7;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29575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Class Selector (.)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2337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Reusable grouping.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3624262"/>
            <a:ext cx="19907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.ch13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color: #059669;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29575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 Selector (#)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00" y="3233737"/>
            <a:ext cx="2655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Unique identifier.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0" y="3624262"/>
            <a:ext cx="19907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#h11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color: #dc2626;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19337"/>
            <a:ext cx="5324475" cy="2543175"/>
          </a:xfrm>
          <a:prstGeom prst="roundRect">
            <a:avLst>
              <a:gd name="adj" fmla="val 52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38875" y="2416968"/>
            <a:ext cx="5343525" cy="2347912"/>
          </a:xfrm>
          <a:prstGeom prst="roundRect">
            <a:avLst>
              <a:gd name="adj" fmla="val 5679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595687"/>
            <a:ext cx="4695825" cy="9525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62725" y="3488531"/>
            <a:ext cx="4695825" cy="9525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2550" y="2647950"/>
            <a:ext cx="457200" cy="238125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48950" y="2755106"/>
            <a:ext cx="609600" cy="238125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SELECTOR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Descendant vs. Adjacent Sibling (+)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38875"/>
            <a:ext cx="2500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Technical Accuracy Clarification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6625" y="62388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014662"/>
            <a:ext cx="4791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Selects any element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B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that is nested anywhere inside element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A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, regardless of depth.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748087"/>
            <a:ext cx="44862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  Targeted Link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</a:t>
            </a:r>
            <a: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121818"/>
            <a:ext cx="5629275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Selects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B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 ONLY when it is the </a:t>
            </a:r>
            <a:r>
              <a:rPr b="1" sz="1125" i="0" u="none">
                <a:solidFill>
                  <a:srgbClr val="0284C7"/>
                </a:solidFill>
                <a:latin typeface="Inter"/>
              </a:rPr>
              <a:t>immediately following sibling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 of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A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640931"/>
            <a:ext cx="44862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JetBrains Mono"/>
              </a:rPr>
              <a:t>Item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Applied (Immediate Sibling)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Divider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NOT Applied (Broken Sequence)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633662"/>
            <a:ext cx="225789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Descendant: </a:t>
            </a:r>
            <a:r>
              <a:rPr b="1" sz="1650" i="0" u="none">
                <a:solidFill>
                  <a:srgbClr val="0F172A"/>
                </a:solidFill>
                <a:latin typeface="Plus Jakarta Sans"/>
              </a:rPr>
              <a:t>A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2686050"/>
            <a:ext cx="400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JetBrains Mono"/>
              </a:rPr>
              <a:t>li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2740818"/>
            <a:ext cx="317559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Adjacent Sibling: </a:t>
            </a:r>
            <a:r>
              <a:rPr b="1" sz="1650" i="0" u="none">
                <a:solidFill>
                  <a:srgbClr val="0F172A"/>
                </a:solidFill>
                <a:latin typeface="Plus Jakarta Sans"/>
              </a:rPr>
              <a:t>A +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150" y="2793206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JetBrains Mono"/>
              </a:rPr>
              <a:t>ol +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052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14575"/>
            <a:ext cx="539115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314575"/>
            <a:ext cx="539115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209925"/>
            <a:ext cx="539115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209925"/>
            <a:ext cx="539115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PATTERN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Attribute Selectors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38875"/>
            <a:ext cx="1964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Advanced CSS Selectors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5200" y="6238875"/>
            <a:ext cx="7429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4410075"/>
            <a:ext cx="1114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Contains (*=)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2075" y="2619375"/>
            <a:ext cx="876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Existence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1350" y="2619375"/>
            <a:ext cx="828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Exact (=)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8700" y="3514725"/>
            <a:ext cx="1209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Starts With (^=)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8450" y="3514725"/>
            <a:ext cx="1171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Ends With ($=)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28625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JetBrains Mono"/>
              </a:rPr>
              <a:t>a[href*="google"]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524375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369A1"/>
                </a:solidFill>
                <a:latin typeface="Inter"/>
              </a:rPr>
              <a:t>Substring Match: Links containing "google" anywhere in the URL string.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495550"/>
            <a:ext cx="2690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h2[id]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733675"/>
            <a:ext cx="2690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Presence: Any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with an id attribute.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2495550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input[type="text"]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2733675"/>
            <a:ext cx="2738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Exact Match: Text input fields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390900"/>
            <a:ext cx="3190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a[href^="https"]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629025"/>
            <a:ext cx="3190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Prefix Match: Links beginning with https.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3390900"/>
            <a:ext cx="3702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JetBrains Mono"/>
              </a:rPr>
              <a:t>a[href$=".pdf"]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3629025"/>
            <a:ext cx="3702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Suffix Match: Links pointing to PDF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14600"/>
            <a:ext cx="5372100" cy="215265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2290762"/>
            <a:ext cx="5295900" cy="260032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762375"/>
            <a:ext cx="4743450" cy="590550"/>
          </a:xfrm>
          <a:prstGeom prst="roundRect">
            <a:avLst>
              <a:gd name="adj" fmla="val 645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3762375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62725" y="2919412"/>
            <a:ext cx="4743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62725" y="3367087"/>
            <a:ext cx="4743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62725" y="3814762"/>
            <a:ext cx="4743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2725" y="4262437"/>
            <a:ext cx="4743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STRUCTURAL PSEUDO-CLASSES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Mastering :nth-of-type()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1726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Index Formula 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6625" y="62388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828925"/>
            <a:ext cx="62257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Exact Technical 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181350"/>
            <a:ext cx="4838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Selects an element based on its position among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sibling elements of the same HTML element type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56698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Formula &amp; Sibling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3895725"/>
            <a:ext cx="4457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Rule:</a:t>
            </a:r>
            <a:r>
              <a:rPr b="0" sz="1050" i="0" u="none">
                <a:solidFill>
                  <a:srgbClr val="0F172A"/>
                </a:solidFill>
                <a:latin typeface="Inter"/>
              </a:rPr>
              <a:t> It counts only elements with the identical tag name inside the parent container.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75" y="3014662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li:nth-of-type(even)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6425" y="3014662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Indices: 2, 4, 6, 8...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075" y="3462337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li:nth-of-type(odd)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6425" y="3462337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Indices: 1, 3, 5, 7...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3910012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JetBrains Mono"/>
              </a:rPr>
              <a:t>li:nth-of-type(3)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7425" y="3910012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Exact 3rd sibling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75" y="4357687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li:nth-of-type(3n)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2625" y="4357687"/>
            <a:ext cx="2000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Multiples: 3, 6, 9...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95537"/>
            <a:ext cx="6023223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50" y="2871787"/>
            <a:ext cx="5527923" cy="1666875"/>
          </a:xfrm>
          <a:prstGeom prst="roundRect">
            <a:avLst>
              <a:gd name="adj" fmla="val 6857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75723" y="2505075"/>
            <a:ext cx="4606676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75723" y="3657600"/>
            <a:ext cx="4606676" cy="1019175"/>
          </a:xfrm>
          <a:prstGeom prst="roundRect">
            <a:avLst>
              <a:gd name="adj" fmla="val 11214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6800" y="3309937"/>
            <a:ext cx="5108823" cy="1019175"/>
          </a:xfrm>
          <a:prstGeom prst="roundRect">
            <a:avLst>
              <a:gd name="adj" fmla="val 7476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8250" y="3709987"/>
            <a:ext cx="4765923" cy="447675"/>
          </a:xfrm>
          <a:prstGeom prst="roundRect">
            <a:avLst>
              <a:gd name="adj" fmla="val 12765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DIMENSION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CSS Box Model &amp; Box-Sizing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38875"/>
            <a:ext cx="2238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Layout Calculation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6625" y="62388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259" y="2643187"/>
            <a:ext cx="690990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MARGIN (External spacing outside border)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197" y="3081337"/>
            <a:ext cx="638602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BORDER (Outer boundary edge)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5748" y="2705100"/>
            <a:ext cx="50162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box-sizing: content-box 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5748" y="2981325"/>
            <a:ext cx="430187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Width = Content only. Total width expands when padding/borders are added.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5273" y="3867150"/>
            <a:ext cx="50067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box-sizing: border-box (Modern Standard)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5273" y="4143375"/>
            <a:ext cx="428282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369A1"/>
                </a:solidFill>
                <a:latin typeface="Inter"/>
              </a:rPr>
              <a:t>Width includes Padding and Border. Essential for responsive layouts.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9" y="3481387"/>
            <a:ext cx="595740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59669"/>
                </a:solidFill>
                <a:latin typeface="Inter"/>
              </a:rPr>
              <a:t>PADDING (Inner buffer space)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197" y="3843337"/>
            <a:ext cx="56240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Inter"/>
              </a:rPr>
              <a:t>CONTENT (Text / Media Area)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38462"/>
            <a:ext cx="20574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8450" y="2938462"/>
            <a:ext cx="20574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67300" y="2938462"/>
            <a:ext cx="20574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96150" y="2938462"/>
            <a:ext cx="20574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5000" y="2938462"/>
            <a:ext cx="20574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COORDINATE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CSS Positioning 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148012"/>
            <a:ext cx="1809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9900" y="3148012"/>
            <a:ext cx="1809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relative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0" y="3148012"/>
            <a:ext cx="1809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absolute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3148012"/>
            <a:ext cx="1809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6450" y="3148012"/>
            <a:ext cx="1809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sticky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38875"/>
            <a:ext cx="1893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DOM Flow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6625" y="62388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43376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Default DOM order.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3700462"/>
            <a:ext cx="1790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Top/right/bottom/left coordinates ignored.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9425" y="343376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Shifted from self.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9425" y="3700462"/>
            <a:ext cx="1790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Preserves original DOM flow footprint.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275" y="343376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Removed from 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275" y="3700462"/>
            <a:ext cx="1790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Bound to nearest non-static ancestor.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7125" y="343376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Viewport bound.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7125" y="3700462"/>
            <a:ext cx="1790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Remains stationary during page scrolling.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5975" y="343376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Scroll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5975" y="3700462"/>
            <a:ext cx="1790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Toggles relative to fixed based on scroll offset.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52675"/>
            <a:ext cx="5334000" cy="2476500"/>
          </a:xfrm>
          <a:prstGeom prst="roundRect">
            <a:avLst>
              <a:gd name="adj" fmla="val 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262187"/>
            <a:ext cx="5334000" cy="2657475"/>
          </a:xfrm>
          <a:prstGeom prst="roundRect">
            <a:avLst>
              <a:gd name="adj" fmla="val 5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400425"/>
            <a:ext cx="4705350" cy="1114425"/>
          </a:xfrm>
          <a:prstGeom prst="roundRect">
            <a:avLst>
              <a:gd name="adj" fmla="val 683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62725" y="3490912"/>
            <a:ext cx="4705350" cy="1114425"/>
          </a:xfrm>
          <a:prstGeom prst="roundRect">
            <a:avLst>
              <a:gd name="adj" fmla="val 683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5800" y="2686050"/>
            <a:ext cx="11334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06000" y="2595562"/>
            <a:ext cx="1362075" cy="2286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MODERN LAYOUT ENGINES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Flexbox (1D) vs. CSS Grid (2D)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38875"/>
            <a:ext cx="1869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Layout Engine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6150" y="6238875"/>
            <a:ext cx="762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067050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Optimized for space distribution and alignment along a single axis.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552825"/>
            <a:ext cx="44958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.navbar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display: flex;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justify-content: space-between;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align-items: center;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976562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Handles complex spatial grids with simultaneous column and row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643312"/>
            <a:ext cx="449580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.dashboard {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display: grid;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grid-template-columns: repeat(3, 1fr);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gap: 20px;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667000"/>
            <a:ext cx="36754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Flexbox (One-Dimensional)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24150"/>
            <a:ext cx="107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Row OR 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2576512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 Grid (Two-Dimensional)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2200" y="2633662"/>
            <a:ext cx="1304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Rows AND Columns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000"/>
            <a:ext cx="6150322" cy="26098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305175"/>
            <a:ext cx="5521672" cy="1276350"/>
          </a:xfrm>
          <a:prstGeom prst="roundRect">
            <a:avLst>
              <a:gd name="adj" fmla="val 59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64722" y="2490787"/>
            <a:ext cx="4517677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64722" y="3262312"/>
            <a:ext cx="4517677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64722" y="4033837"/>
            <a:ext cx="4517677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747" y="2705100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47" y="3476625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747" y="4248150"/>
            <a:ext cx="2857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VIEWPORT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Responsive Design &amp; Media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38875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Responsive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6625" y="62388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600325"/>
            <a:ext cx="724719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Breakpoint Query Mechanics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952750"/>
            <a:ext cx="690209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Dynamically applies style rules matching client device screen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457575"/>
            <a:ext cx="5312122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472B6"/>
                </a:solidFill>
                <a:latin typeface="JetBrains Mono"/>
              </a:rPr>
              <a:t>@media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(max-width: 768px) {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.container {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  display: block;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  width: 100%;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  }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8597" y="2652712"/>
            <a:ext cx="266867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Mobile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8597" y="2833687"/>
            <a:ext cx="266867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Single column, fluid width (≤ 640px)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7172" y="3424237"/>
            <a:ext cx="2869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Tablet Devices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7172" y="3605212"/>
            <a:ext cx="2869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Two-column collapse (641px – 1024px)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2897" y="4195762"/>
            <a:ext cx="269248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Desktop Monitors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2897" y="4376737"/>
            <a:ext cx="269248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Multi-column grid layouts (≥ 1025px)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0350"/>
            <a:ext cx="3292078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68378" y="2795587"/>
            <a:ext cx="3292078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7156" y="2650926"/>
            <a:ext cx="3855243" cy="1879996"/>
          </a:xfrm>
          <a:prstGeom prst="roundRect">
            <a:avLst>
              <a:gd name="adj" fmla="val 607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609975"/>
            <a:ext cx="2815828" cy="53340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6503" y="3605212"/>
            <a:ext cx="2815828" cy="542925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CASCADE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Pseudos &amp; Specificity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38875"/>
            <a:ext cx="2393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Cascade Resolution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6150" y="6238875"/>
            <a:ext cx="762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38475"/>
            <a:ext cx="36957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Pseudo-Classes (:)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333750"/>
            <a:ext cx="35197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Element interaction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724275"/>
            <a:ext cx="268247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JetBrains Mono"/>
              </a:rPr>
              <a:t>a:hover { color: #dc2626; }</a:t>
            </a:r>
            <a:r>
              <a:t>
</a:t>
            </a:r>
            <a:r>
              <a:rPr b="0" sz="900" i="0" u="none">
                <a:solidFill>
                  <a:srgbClr val="CBD5E1"/>
                </a:solidFill>
                <a:latin typeface="JetBrains Mono"/>
              </a:rPr>
              <a:t> input:focus { border-color: #0284c7;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6503" y="3033712"/>
            <a:ext cx="36957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Pseudo-Elements (::)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6503" y="3328987"/>
            <a:ext cx="35197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Specific sub-part of node.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0803" y="3719512"/>
            <a:ext cx="26824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BD5E1"/>
                </a:solidFill>
                <a:latin typeface="JetBrains Mono"/>
              </a:rPr>
              <a:t>p::first-letter { font-size: 32px; }</a:t>
            </a:r>
            <a:r>
              <a:t>
</a:t>
            </a:r>
            <a:r>
              <a:rPr b="0" sz="900" i="0" u="none">
                <a:solidFill>
                  <a:srgbClr val="CBD5E1"/>
                </a:solidFill>
                <a:latin typeface="JetBrains Mono"/>
              </a:rPr>
              <a:t> h1::before { content: "★ ";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5281" y="2889051"/>
            <a:ext cx="4226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Specificity Priority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5281" y="3184326"/>
            <a:ext cx="42237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5803D"/>
                </a:solidFill>
                <a:latin typeface="Inter"/>
              </a:rPr>
              <a:t>Resolution order when rules conflict: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5281" y="3451026"/>
            <a:ext cx="3474243" cy="84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14532D"/>
                </a:solidFill>
                <a:latin typeface="JetBrains Mono"/>
              </a:rPr>
              <a:t>1. Inline Styles  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(1,0,0,0)</a:t>
            </a:r>
            <a:r>
              <a:t>
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 2. ID Selectors  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(0,1,0,0)</a:t>
            </a:r>
            <a:r>
              <a:t>
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 3. Class / Pseudo  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(0,0,1,0)</a:t>
            </a:r>
            <a:r>
              <a:t>
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 4. Tag Selectors  </a:t>
            </a:r>
            <a:r>
              <a:rPr b="0" sz="975" i="0" u="none">
                <a:solidFill>
                  <a:srgbClr val="14532D"/>
                </a:solidFill>
                <a:latin typeface="JetBrains Mono"/>
              </a:rPr>
              <a:t>(0,0,0,1)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81575" y="1580257"/>
            <a:ext cx="2228850" cy="34290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7637" y="4220467"/>
            <a:ext cx="4276725" cy="485775"/>
          </a:xfrm>
          <a:prstGeom prst="roundRect">
            <a:avLst>
              <a:gd name="adj" fmla="val 19607"/>
            </a:avLst>
          </a:prstGeom>
          <a:solidFill>
            <a:srgbClr val="132845"/>
          </a:solidFill>
          <a:ln w="9525">
            <a:solidFill>
              <a:srgbClr val="234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5375" y="2113657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Build Scalable, Responsive &amp; Maintainable UIs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363217"/>
            <a:ext cx="8096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Separate presentation from structure, leverage Flexbox and Grid layout systems, and master technical selector combinators.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1453" y="5087242"/>
            <a:ext cx="7989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Institute of Aeronautical Engineering • 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1665982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ACSE04 • LECTURE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0703" y="4382392"/>
            <a:ext cx="4750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Inter"/>
              </a:rPr>
              <a:t>Next Session: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Interactive DOM &amp; CSS Variables Mini-Project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https://www.iare.ac.in/sites/default/files/design_templates/IARE_Logo_Academic.png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www.iare.ac.in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