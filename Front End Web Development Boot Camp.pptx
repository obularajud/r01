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</ns0:sldIdLst>
  <ns0:sldSz cx="12192000" cy="6858000" type="screen4x3"/>
  <ns0:notesSz cx="6858000" cy="9144000"/>
  <ns0:embeddedFontLst>
    <ns0:embeddedFont>
      <ns0:font typeface="Space Grotesk"/>
      <ns0:bold ns1:id="rIdFont16"/>
      <ns0:italic ns1:id="rIdFont17"/>
      <ns0:regular ns1:id="rIdFont18"/>
    </ns0:embeddedFont>
    <ns0:embeddedFont>
      <ns0:font typeface="Inter"/>
      <ns0:bold ns1:id="rIdFont19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Font16" Type="http://schemas.openxmlformats.org/officeDocument/2006/relationships/font" Target="fonts/2551c299-495e-4921-bb78-687228c1bd64.fntdata" /><ns0:Relationship Id="rIdFont17" Type="http://schemas.openxmlformats.org/officeDocument/2006/relationships/font" Target="fonts/7de2d7da-6fc4-4cbc-a2c9-c75adcb652fc.fntdata" /><ns0:Relationship Id="rIdFont18" Type="http://schemas.openxmlformats.org/officeDocument/2006/relationships/font" Target="fonts/b5be1d8f-6d05-4cbb-9804-fb45631bfe54.fntdata" /><ns0:Relationship Id="rIdFont19" Type="http://schemas.openxmlformats.org/officeDocument/2006/relationships/font" Target="fonts/b8eb318c-7f09-4080-a028-a833e08fe80d.fntdata" /><ns0:Relationship Id="rIdFont20" Type="http://schemas.openxmlformats.org/officeDocument/2006/relationships/font" Target="fonts/6663da45-bd2b-4fee-9717-c0f14d6a8401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7C5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6625" y="4530923"/>
            <a:ext cx="5238750" cy="1285875"/>
          </a:xfrm>
          <a:prstGeom prst="roundRect">
            <a:avLst>
              <a:gd name="adj" fmla="val 8888"/>
            </a:avLst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6625" y="4530923"/>
            <a:ext cx="38100" cy="12858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95975" y="4835723"/>
            <a:ext cx="9525" cy="676275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562" y="1041052"/>
            <a:ext cx="904875" cy="952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64894" y="2450752"/>
            <a:ext cx="186221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D97706"/>
                </a:solidFill>
                <a:latin typeface="Space Grotesk"/>
              </a:rPr>
              <a:t>BOOT CAMP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7754" y="2879377"/>
            <a:ext cx="9176342" cy="613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b="1" sz="4200" i="0" u="none">
                <a:solidFill>
                  <a:srgbClr val="F8FAFC"/>
                </a:solidFill>
                <a:latin typeface="Space Grotesk"/>
              </a:rPr>
              <a:t>Front End Web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6734" y="3721298"/>
            <a:ext cx="729853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Understanding the Networking Foundation of the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1925" y="4835723"/>
            <a:ext cx="18335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PRESENTER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1925" y="5035748"/>
            <a:ext cx="183356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Mr. D Obula Raju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1925" y="5321498"/>
            <a:ext cx="18335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Inter"/>
              </a:rPr>
              <a:t>ID: IARE11225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2700" y="4835723"/>
            <a:ext cx="236934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2700" y="5035748"/>
            <a:ext cx="236934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Department of CSE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2700" y="5321498"/>
            <a:ext cx="236934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Inter"/>
              </a:rPr>
              <a:t>Lecture: 12 • Oct 14,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067050"/>
            <a:ext cx="28575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952875"/>
            <a:ext cx="22860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838700"/>
            <a:ext cx="22860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0" y="1466850"/>
            <a:ext cx="6096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3A8A"/>
                </a:solidFill>
                <a:latin typeface="Space Grotesk"/>
              </a:rPr>
              <a:t>THE BIG PICTURE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0" y="1819275"/>
            <a:ext cx="58607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Space Grotesk"/>
              </a:rPr>
              <a:t>Bridging Front-End and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2250" y="3038475"/>
            <a:ext cx="435768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Beyond UI/UX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2250" y="3362325"/>
            <a:ext cx="435768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Requires mastering data travel mechanics.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100" y="3924300"/>
            <a:ext cx="340518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Protocol Hierarchy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4248150"/>
            <a:ext cx="340518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Strict hierarchy for every API call.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4810125"/>
            <a:ext cx="448865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The Complete Journey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5133975"/>
            <a:ext cx="448865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From application layer to physical hardware.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633787"/>
            <a:ext cx="3931890" cy="942975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729162"/>
            <a:ext cx="3931890" cy="942975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3633787"/>
            <a:ext cx="38100" cy="9429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729162"/>
            <a:ext cx="38100" cy="9429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690" y="609600"/>
            <a:ext cx="6583709" cy="5638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490" y="914400"/>
            <a:ext cx="5974109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1185862"/>
            <a:ext cx="49148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97706"/>
                </a:solidFill>
                <a:latin typeface="Space Grotesk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538287"/>
            <a:ext cx="422849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Space Grotesk"/>
              </a:rPr>
              <a:t>The OSI Reference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757487"/>
            <a:ext cx="402714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Seven distinct layers of network communication mapping data flow.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862387"/>
            <a:ext cx="451052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Layers 7 to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4157662"/>
            <a:ext cx="42957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Application focus (HTTP, TCP, UDP).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4957762"/>
            <a:ext cx="451052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Layers 3 to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5253037"/>
            <a:ext cx="42957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Infrastructure focus (Routing, Data links).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990850"/>
            <a:ext cx="2495550" cy="2295525"/>
          </a:xfrm>
          <a:prstGeom prst="roundRect">
            <a:avLst>
              <a:gd name="adj" fmla="val 663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86150" y="2990850"/>
            <a:ext cx="2495550" cy="2295525"/>
          </a:xfrm>
          <a:prstGeom prst="roundRect">
            <a:avLst>
              <a:gd name="adj" fmla="val 663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990850"/>
            <a:ext cx="2495550" cy="2295525"/>
          </a:xfrm>
          <a:prstGeom prst="roundRect">
            <a:avLst>
              <a:gd name="adj" fmla="val 663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34450" y="2990850"/>
            <a:ext cx="2495550" cy="2295525"/>
          </a:xfrm>
          <a:prstGeom prst="roundRect">
            <a:avLst>
              <a:gd name="adj" fmla="val 663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2990850"/>
            <a:ext cx="24955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86150" y="2990850"/>
            <a:ext cx="249555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0300" y="2990850"/>
            <a:ext cx="249555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34450" y="2990850"/>
            <a:ext cx="2495550" cy="381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-285750" y="1571625"/>
            <a:ext cx="12763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3A8A"/>
                </a:solidFill>
                <a:latin typeface="Space Grotesk"/>
              </a:rPr>
              <a:t>LAYER 3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285750" y="1924050"/>
            <a:ext cx="127635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Space Grotesk"/>
              </a:rPr>
              <a:t>Identifying Nodes on the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120" y="3409950"/>
            <a:ext cx="2475309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Space Grotesk"/>
              </a:rPr>
              <a:t>Class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056" y="3905250"/>
            <a:ext cx="235743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D97706"/>
                </a:solidFill>
                <a:latin typeface="Space Grotesk"/>
              </a:rPr>
              <a:t>0 – 127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056" y="4305300"/>
            <a:ext cx="2357437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Massive global network infrastructure.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6270" y="3409950"/>
            <a:ext cx="2475309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Space Grotesk"/>
              </a:rPr>
              <a:t>Class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5206" y="3905250"/>
            <a:ext cx="235743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D97706"/>
                </a:solidFill>
                <a:latin typeface="Space Grotesk"/>
              </a:rPr>
              <a:t>128 – 191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5206" y="4305300"/>
            <a:ext cx="235743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Medium regional corporate networks.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0420" y="3409950"/>
            <a:ext cx="2475309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Space Grotesk"/>
              </a:rPr>
              <a:t>Class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9356" y="3905250"/>
            <a:ext cx="235743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D97706"/>
                </a:solidFill>
                <a:latin typeface="Space Grotesk"/>
              </a:rPr>
              <a:t>192 – 223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9356" y="4305300"/>
            <a:ext cx="235743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Small localized business networks.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4570" y="3409950"/>
            <a:ext cx="2475309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Space Grotesk"/>
              </a:rPr>
              <a:t>Class D/E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3506" y="3905250"/>
            <a:ext cx="235743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D97706"/>
                </a:solidFill>
                <a:latin typeface="Space Grotesk"/>
              </a:rPr>
              <a:t>224 – 255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3506" y="4305300"/>
            <a:ext cx="235743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Multicast routing and experimental.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42039" y="2447925"/>
            <a:ext cx="3840360" cy="638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42039" y="3314700"/>
            <a:ext cx="3840360" cy="638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42039" y="4181475"/>
            <a:ext cx="3840360" cy="638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42039" y="3076575"/>
            <a:ext cx="38403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42039" y="3076575"/>
            <a:ext cx="38403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42039" y="3943350"/>
            <a:ext cx="38403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42039" y="3943350"/>
            <a:ext cx="38403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42039" y="4810125"/>
            <a:ext cx="38403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42039" y="4810125"/>
            <a:ext cx="38403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09600"/>
            <a:ext cx="6675239" cy="5638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6065639" cy="5029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42039" y="1333500"/>
            <a:ext cx="444996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3A8A"/>
                </a:solidFill>
                <a:latin typeface="Space Grotesk"/>
              </a:rPr>
              <a:t>PACKET 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2039" y="1685925"/>
            <a:ext cx="444996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Space Grotesk"/>
              </a:rPr>
              <a:t>The IPv4 Header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2039" y="2447925"/>
            <a:ext cx="444996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Source Address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2039" y="2733675"/>
            <a:ext cx="444996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Originating node identity.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2039" y="3314700"/>
            <a:ext cx="444996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Destination Address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2039" y="3600450"/>
            <a:ext cx="444996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Target node endpoint.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2039" y="4181475"/>
            <a:ext cx="444996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Time To Live (TTL)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2039" y="4467225"/>
            <a:ext cx="444996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Hop limit to prevent looping.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2039" y="5048250"/>
            <a:ext cx="444996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Protocol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2039" y="5334000"/>
            <a:ext cx="444996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Next level identifier (TCP/UDP).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43000" y="2188815"/>
            <a:ext cx="9906000" cy="723900"/>
          </a:xfrm>
          <a:prstGeom prst="roundRect">
            <a:avLst>
              <a:gd name="adj" fmla="val 7894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3000" y="2988915"/>
            <a:ext cx="9906000" cy="1299120"/>
          </a:xfrm>
          <a:prstGeom prst="roundRect">
            <a:avLst>
              <a:gd name="adj" fmla="val 439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43000" y="4364235"/>
            <a:ext cx="9906000" cy="54292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3000" y="4983360"/>
            <a:ext cx="9906000" cy="9525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-47625" y="921990"/>
            <a:ext cx="12287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D97706"/>
                </a:solidFill>
                <a:latin typeface="Space Grotesk"/>
              </a:rPr>
              <a:t>APPLICATION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47625" y="1274415"/>
            <a:ext cx="1228725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Space Grotesk"/>
              </a:rPr>
              <a:t>The Language of the Web: Requests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1125" y="2426940"/>
            <a:ext cx="26193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369A1"/>
                </a:solidFill>
                <a:latin typeface="Space Grotesk"/>
              </a:rPr>
              <a:t>Request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6625" y="2436465"/>
            <a:ext cx="428699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monospace"/>
              </a:rPr>
              <a:t>METHOD   |   URL   |   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1125" y="3227040"/>
            <a:ext cx="21907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75569"/>
                </a:solidFill>
                <a:latin typeface="Space Grotesk"/>
              </a:rPr>
              <a:t>Header 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6625" y="3227040"/>
            <a:ext cx="369629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monospace"/>
              </a:rPr>
              <a:t>Host: www.iare.ac.in</a:t>
            </a:r>
            <a:r>
              <a:t>
</a:t>
            </a:r>
            <a:r>
              <a:rPr b="0" sz="1350" i="0" u="none">
                <a:solidFill>
                  <a:srgbClr val="334155"/>
                </a:solidFill>
                <a:latin typeface="monospace"/>
              </a:rPr>
              <a:t> Accept: text/html, application/json</a:t>
            </a:r>
            <a:r>
              <a:t>
</a:t>
            </a:r>
            <a:r>
              <a:rPr b="0" sz="1350" i="0" u="none">
                <a:solidFill>
                  <a:srgbClr val="334155"/>
                </a:solidFill>
                <a:latin typeface="monospace"/>
              </a:rPr>
              <a:t> Authorization: Bearer [token]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1125" y="4526160"/>
            <a:ext cx="2619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Blank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6625" y="4526160"/>
            <a:ext cx="35361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1" u="none">
                <a:solidFill>
                  <a:srgbClr val="0F172A"/>
                </a:solidFill>
                <a:latin typeface="Space Grotesk"/>
              </a:rPr>
              <a:t>Separates metadata from payload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1125" y="5221485"/>
            <a:ext cx="2190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B45309"/>
                </a:solidFill>
                <a:latin typeface="Space Grotesk"/>
              </a:rPr>
              <a:t>Entity Body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6625" y="5221485"/>
            <a:ext cx="4930973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78350F"/>
                </a:solidFill>
                <a:latin typeface="monospace"/>
              </a:rPr>
              <a:t>{ "studentId": "IARE11225", "action": "login"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43000" y="2188815"/>
            <a:ext cx="9906000" cy="723900"/>
          </a:xfrm>
          <a:prstGeom prst="roundRect">
            <a:avLst>
              <a:gd name="adj" fmla="val 7894"/>
            </a:avLst>
          </a:prstGeom>
          <a:solidFill>
            <a:srgbClr val="DCFCE7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3000" y="2988915"/>
            <a:ext cx="9906000" cy="1299120"/>
          </a:xfrm>
          <a:prstGeom prst="roundRect">
            <a:avLst>
              <a:gd name="adj" fmla="val 439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43000" y="4364235"/>
            <a:ext cx="9906000" cy="54292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3000" y="4983360"/>
            <a:ext cx="9906000" cy="9525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-47625" y="921990"/>
            <a:ext cx="12287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3A8A"/>
                </a:solidFill>
                <a:latin typeface="Space Grotesk"/>
              </a:rPr>
              <a:t>APPLICATION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47625" y="1274415"/>
            <a:ext cx="1228725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Space Grotesk"/>
              </a:rPr>
              <a:t>The Server's Reply: Responses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1125" y="2426940"/>
            <a:ext cx="26193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5803D"/>
                </a:solidFill>
                <a:latin typeface="Space Grotesk"/>
              </a:rPr>
              <a:t>Status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6625" y="2436465"/>
            <a:ext cx="54301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monospace"/>
              </a:rPr>
              <a:t>VERSION   |   STATUS CODE   |  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1125" y="3227040"/>
            <a:ext cx="21907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75569"/>
                </a:solidFill>
                <a:latin typeface="Space Grotesk"/>
              </a:rPr>
              <a:t>Header 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6625" y="3227040"/>
            <a:ext cx="318194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monospace"/>
              </a:rPr>
              <a:t>Content-Type: application/json</a:t>
            </a:r>
            <a:r>
              <a:t>
</a:t>
            </a:r>
            <a:r>
              <a:rPr b="0" sz="1350" i="0" u="none">
                <a:solidFill>
                  <a:srgbClr val="334155"/>
                </a:solidFill>
                <a:latin typeface="monospace"/>
              </a:rPr>
              <a:t> Content-Length: 342</a:t>
            </a:r>
            <a:r>
              <a:t>
</a:t>
            </a:r>
            <a:r>
              <a:rPr b="0" sz="1350" i="0" u="none">
                <a:solidFill>
                  <a:srgbClr val="334155"/>
                </a:solidFill>
                <a:latin typeface="monospace"/>
              </a:rPr>
              <a:t> Cache-Control: max-age=3600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1125" y="4526160"/>
            <a:ext cx="2619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Blank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6625" y="4526160"/>
            <a:ext cx="1476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1" u="none">
                <a:solidFill>
                  <a:srgbClr val="0F172A"/>
                </a:solidFill>
                <a:latin typeface="Space Grotesk"/>
              </a:rPr>
              <a:t>CRLF delimiter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1125" y="5221485"/>
            <a:ext cx="2190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B45309"/>
                </a:solidFill>
                <a:latin typeface="Space Grotesk"/>
              </a:rPr>
              <a:t>Entity Body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6625" y="5221485"/>
            <a:ext cx="4210794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78350F"/>
                </a:solidFill>
                <a:latin typeface="monospace"/>
              </a:rPr>
              <a:t>{ "status": "success", "data": { ... } 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7C5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08102" y="4892873"/>
            <a:ext cx="3975794" cy="523875"/>
          </a:xfrm>
          <a:prstGeom prst="roundRect">
            <a:avLst>
              <a:gd name="adj" fmla="val 14545"/>
            </a:avLst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562" y="1441102"/>
            <a:ext cx="904875" cy="114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14953" y="3041302"/>
            <a:ext cx="3361943" cy="613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b="1" sz="4200" i="0" u="none">
                <a:solidFill>
                  <a:srgbClr val="F8FAFC"/>
                </a:solidFill>
                <a:latin typeface="Space Grotesk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3883223"/>
            <a:ext cx="7143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Questions regarding network fundamentals or modern web workflows?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92128" y="5045273"/>
            <a:ext cx="42077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F8FAFC"/>
                </a:solidFill>
                <a:latin typeface="Space Grotesk"/>
              </a:rPr>
              <a:t>Mr. D Obula Raju • Department of CSE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13335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21050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8765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095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095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8670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8670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6385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6385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76375"/>
            <a:ext cx="857250" cy="476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47900"/>
            <a:ext cx="857250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19425"/>
            <a:ext cx="857250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790950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3495554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F8FAFC"/>
                </a:solidFill>
                <a:latin typeface="Inter"/>
              </a:rPr>
              <a:t>Image 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1519237"/>
            <a:ext cx="6274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https://www.iare.ac.in/sites/default/files/design_templates/IARE_Logo_Academic.png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1719262"/>
            <a:ext cx="20835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www.iare.ac.in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6875" y="2290762"/>
            <a:ext cx="101084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https://images.stockcake.com/public/4/c/d/4cd61850-7ee8-480c-ad7c-21dba7c2d769_large/intricate-network-visualization-stockcake.jpg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6875" y="2490787"/>
            <a:ext cx="21193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stockcake.com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3062287"/>
            <a:ext cx="64174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https://www.technologyuk.net/telecommunications/telecom-principles/images/osi_1.gif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6875" y="3262312"/>
            <a:ext cx="2809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www.technologyuk.net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3833812"/>
            <a:ext cx="6084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https://www.pynetlabs.com/wp-content/uploads/2023/12/ipv4-header-image.jpeg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4033837"/>
            <a:ext cx="25836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www.pynetlabs.com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